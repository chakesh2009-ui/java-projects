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7772400" cy="106923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500"/>
            <a:ext cx="7772400" cy="10058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" y="4787900"/>
            <a:ext cx="6540500" cy="139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6261100"/>
            <a:ext cx="6540500" cy="156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50" y="1727200"/>
            <a:ext cx="6540500" cy="2984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4800" y="1036319"/>
            <a:ext cx="471678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b="1" sz="1200">
                <a:solidFill>
                  <a:srgbClr val="1F4E79"/>
                </a:solidFill>
                <a:latin typeface="Roboto"/>
              </a:rPr>
              <a:t>SIMATS ENGINEERING (SAVEETHA SCHOOL OF ENGINEERING)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8200" y="1294130"/>
            <a:ext cx="36499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200">
                <a:solidFill>
                  <a:srgbClr val="2E75B6"/>
                </a:solidFill>
                <a:latin typeface="Roboto"/>
              </a:rPr>
              <a:t>Department of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8680" y="1550670"/>
            <a:ext cx="35902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200">
                <a:solidFill>
                  <a:srgbClr val="C00000"/>
                </a:solidFill>
                <a:latin typeface="Roboto"/>
              </a:rPr>
              <a:t>ASSESSMENT TOOL 1 – High (</a:t>
            </a:r>
            <a:r>
              <a:rPr spc="49" b="1" sz="1200">
                <a:solidFill>
                  <a:srgbClr val="000000"/>
                </a:solidFill>
                <a:latin typeface="Roboto"/>
              </a:rPr>
              <a:t>Coding Challenge)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1980"/>
            <a:ext cx="524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b="1" sz="1200">
                <a:solidFill>
                  <a:srgbClr val="1F4E79"/>
                </a:solidFill>
                <a:latin typeface="Roboto"/>
              </a:rP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51989"/>
            <a:ext cx="652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3" sz="1200">
                <a:solidFill>
                  <a:srgbClr val="000000"/>
                </a:solidFill>
                <a:latin typeface="Roboto"/>
              </a:rPr>
              <a:t>CSA0501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959610"/>
            <a:ext cx="930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200">
                <a:solidFill>
                  <a:srgbClr val="1F4E79"/>
                </a:solidFill>
                <a:latin typeface="Roboto"/>
              </a:rPr>
              <a:t>Course Title: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59610"/>
            <a:ext cx="1549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200">
                <a:solidFill>
                  <a:srgbClr val="1F4E79"/>
                </a:solidFill>
                <a:latin typeface="Roboto"/>
              </a:rPr>
              <a:t>Programming in 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43430"/>
            <a:ext cx="431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1200">
                <a:solidFill>
                  <a:srgbClr val="1F4E79"/>
                </a:solidFill>
                <a:latin typeface="Roboto"/>
              </a:rPr>
              <a:t>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86330"/>
            <a:ext cx="228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b="1" sz="1200">
                <a:solidFill>
                  <a:srgbClr val="1F4E79"/>
                </a:solidFill>
                <a:latin typeface="Roboto"/>
              </a:rPr>
              <a:t>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97760"/>
            <a:ext cx="18376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1200">
                <a:solidFill>
                  <a:srgbClr val="000000"/>
                </a:solidFill>
                <a:latin typeface="Roboto"/>
              </a:rPr>
              <a:t>CO1 – Precision (BL3,BL4)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405380"/>
            <a:ext cx="9486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" b="1" sz="1200">
                <a:solidFill>
                  <a:srgbClr val="1F4E79"/>
                </a:solidFill>
                <a:latin typeface="Roboto"/>
              </a:rPr>
              <a:t>Assessment: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10130"/>
            <a:ext cx="1422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200">
                <a:solidFill>
                  <a:srgbClr val="000000"/>
                </a:solidFill>
                <a:latin typeface="Roboto"/>
              </a:rPr>
              <a:t>Assessment Tool 1 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57780"/>
            <a:ext cx="762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200">
                <a:solidFill>
                  <a:srgbClr val="1F4E79"/>
                </a:solidFill>
                <a:latin typeface="Roboto"/>
              </a:rPr>
              <a:t>Assessed: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85390"/>
            <a:ext cx="12115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200">
                <a:solidFill>
                  <a:srgbClr val="000000"/>
                </a:solidFill>
                <a:latin typeface="Roboto"/>
              </a:rPr>
              <a:t>Coding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55900"/>
            <a:ext cx="1503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00">
                <a:solidFill>
                  <a:srgbClr val="000000"/>
                </a:solidFill>
                <a:latin typeface="Roboto"/>
              </a:rPr>
              <a:t>100 (5 Questions ×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900680"/>
            <a:ext cx="821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200">
                <a:solidFill>
                  <a:srgbClr val="1F4E79"/>
                </a:solidFill>
                <a:latin typeface="Roboto"/>
              </a:rPr>
              <a:t>Weightage: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843530"/>
            <a:ext cx="7708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sz="1200">
                <a:solidFill>
                  <a:srgbClr val="000000"/>
                </a:solidFill>
                <a:latin typeface="Roboto"/>
              </a:rPr>
              <a:t>40% of 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851150"/>
            <a:ext cx="8978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b="1" sz="1200">
                <a:solidFill>
                  <a:srgbClr val="1F4E79"/>
                </a:solidFill>
                <a:latin typeface="Roboto"/>
              </a:rPr>
              <a:t>Total Marks: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931160"/>
            <a:ext cx="466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1200">
                <a:solidFill>
                  <a:srgbClr val="000000"/>
                </a:solidFill>
                <a:latin typeface="Roboto"/>
              </a:rPr>
              <a:t>Marks)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201670"/>
            <a:ext cx="478535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i="1" sz="1200">
                <a:solidFill>
                  <a:srgbClr val="000000"/>
                </a:solidFill>
                <a:latin typeface="Roboto"/>
              </a:rPr>
              <a:t>Apply object-oriented programming principles such as classes, objects,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296920"/>
            <a:ext cx="313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1200">
                <a:solidFill>
                  <a:srgbClr val="1F4E79"/>
                </a:solidFill>
                <a:latin typeface="Roboto"/>
              </a:rPr>
              <a:t>CO1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373120"/>
            <a:ext cx="48882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i="1" sz="1200">
                <a:solidFill>
                  <a:srgbClr val="000000"/>
                </a:solidFill>
                <a:latin typeface="Roboto"/>
              </a:rPr>
              <a:t>encapsulation, data hiding, inheritance, and polymorphism to design 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468370"/>
            <a:ext cx="787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200">
                <a:solidFill>
                  <a:srgbClr val="1F4E79"/>
                </a:solidFill>
                <a:latin typeface="Roboto"/>
              </a:rPr>
              <a:t>Statement: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544570"/>
            <a:ext cx="28206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i="1" sz="1200">
                <a:solidFill>
                  <a:srgbClr val="000000"/>
                </a:solidFill>
                <a:latin typeface="Roboto"/>
              </a:rPr>
              <a:t>implement entity manipulations (BL3,BL4)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11270"/>
            <a:ext cx="567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b="1" sz="1200">
                <a:solidFill>
                  <a:srgbClr val="1F4E79"/>
                </a:solidFill>
                <a:latin typeface="Roboto"/>
              </a:rPr>
              <a:t>Student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982720"/>
            <a:ext cx="466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0" b="1" sz="1200">
                <a:solidFill>
                  <a:srgbClr val="1F4E79"/>
                </a:solidFill>
                <a:latin typeface="Roboto"/>
              </a:rPr>
              <a:t>Name: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0100" y="3895090"/>
            <a:ext cx="736600" cy="147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sz="1150">
                <a:solidFill>
                  <a:srgbClr val="000000"/>
                </a:solidFill>
                <a:latin typeface="Roboto"/>
              </a:rPr>
              <a:t>HAKESH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917950"/>
            <a:ext cx="669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200">
                <a:solidFill>
                  <a:srgbClr val="1F4E79"/>
                </a:solidFill>
                <a:latin typeface="Roboto"/>
              </a:rPr>
              <a:t>Reg. No.: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7990" y="3887470"/>
            <a:ext cx="84708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1100">
                <a:solidFill>
                  <a:srgbClr val="000000"/>
                </a:solidFill>
                <a:latin typeface="Roboto"/>
              </a:rPr>
              <a:t>1972260066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325620"/>
            <a:ext cx="635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b="1" sz="1200">
                <a:solidFill>
                  <a:srgbClr val="1F4E79"/>
                </a:solidFill>
                <a:latin typeface="Roboto"/>
              </a:rPr>
              <a:t>Section 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1370" y="4337050"/>
            <a:ext cx="5435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" sz="1250">
                <a:solidFill>
                  <a:srgbClr val="000000"/>
                </a:solidFill>
                <a:latin typeface="Roboto"/>
              </a:rPr>
              <a:t>SLOT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363720"/>
            <a:ext cx="38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1F4E79"/>
                </a:solidFill>
                <a:latin typeface="Roboto"/>
              </a:rPr>
              <a:t>Date: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8480" y="4347210"/>
            <a:ext cx="42926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800">
                <a:solidFill>
                  <a:srgbClr val="000000"/>
                </a:solidFill>
                <a:latin typeface="Roboto"/>
              </a:rPr>
              <a:t>24/07/26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497070"/>
            <a:ext cx="47370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1200">
                <a:solidFill>
                  <a:srgbClr val="1F4E79"/>
                </a:solidFill>
                <a:latin typeface="Roboto"/>
              </a:rPr>
              <a:t>Batch: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954270"/>
            <a:ext cx="1228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200">
                <a:solidFill>
                  <a:srgbClr val="C00000"/>
                </a:solidFill>
                <a:latin typeface="Roboto"/>
              </a:rPr>
              <a:t>Code of Conduct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4260" y="5135880"/>
            <a:ext cx="64262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sz="1000">
                <a:solidFill>
                  <a:srgbClr val="000000"/>
                </a:solidFill>
                <a:latin typeface="Roboto"/>
              </a:rPr>
              <a:t>HAKESH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297170"/>
            <a:ext cx="5786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i="1" sz="1200">
                <a:solidFill>
                  <a:srgbClr val="000000"/>
                </a:solidFill>
                <a:latin typeface="Roboto"/>
              </a:rPr>
              <a:t>original work and that I have adhered to the guidelines specified for this assessment. 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468620"/>
            <a:ext cx="587755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i="1" sz="1200">
                <a:solidFill>
                  <a:srgbClr val="000000"/>
                </a:solidFill>
                <a:latin typeface="Roboto"/>
              </a:rPr>
              <a:t>understand that any violation of academic integrity rules will result in disciplinary action.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899150"/>
            <a:ext cx="38468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1200">
                <a:solidFill>
                  <a:srgbClr val="000000"/>
                </a:solidFill>
                <a:latin typeface="Roboto"/>
              </a:rPr>
              <a:t>Signature of the Student: _________________________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16040"/>
            <a:ext cx="872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200">
                <a:solidFill>
                  <a:srgbClr val="C00000"/>
                </a:solidFill>
                <a:latin typeface="Roboto"/>
              </a:rPr>
              <a:t>Instructions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67512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6675120"/>
            <a:ext cx="50228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i="1" sz="1200">
                <a:solidFill>
                  <a:srgbClr val="000000"/>
                </a:solidFill>
                <a:latin typeface="Roboto"/>
              </a:rPr>
              <a:t>This test contains 10 questions, each carrying 10 marks. Total: 100 Marks.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931659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6931659"/>
            <a:ext cx="42519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i="1" sz="1200">
                <a:solidFill>
                  <a:srgbClr val="000000"/>
                </a:solidFill>
                <a:latin typeface="Roboto"/>
              </a:rPr>
              <a:t>No negative marking. Unanswered questions carry zero marks.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718947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7189470"/>
            <a:ext cx="31165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i="1" sz="1200">
                <a:solidFill>
                  <a:srgbClr val="000000"/>
                </a:solidFill>
                <a:latin typeface="Roboto"/>
              </a:rPr>
              <a:t>No calculators or electronic devices permitted.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7446009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7446009"/>
            <a:ext cx="1447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i="1" sz="1200">
                <a:solidFill>
                  <a:srgbClr val="000000"/>
                </a:solidFill>
                <a:latin typeface="Roboto"/>
              </a:rPr>
              <a:t>Duration: 90 minutes.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8210" y="9236710"/>
            <a:ext cx="8559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1200">
                <a:solidFill>
                  <a:srgbClr val="434343"/>
                </a:solidFill>
                <a:latin typeface="Roboto"/>
              </a:rPr>
              <a:t>ANNEXURE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59" y="9640570"/>
            <a:ext cx="13462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2000">
                <a:solidFill>
                  <a:srgbClr val="000000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72110"/>
            <a:ext cx="31242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u="sng" sz="1200">
                <a:solidFill>
                  <a:srgbClr val="FF751F"/>
                </a:solidFill>
                <a:uFill>
                  <a:solidFill>
                    <a:srgbClr val="ff741f">
                      <a:alpha val="100000"/>
                    </a:srgbClr>
                  </a:solidFill>
                </a:uFill>
                <a:latin typeface="Noto Serif"/>
              </a:rPr>
              <a:t>Aim: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34060"/>
            <a:ext cx="6549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sz="1200">
                <a:solidFill>
                  <a:srgbClr val="000000"/>
                </a:solidFill>
                <a:latin typeface="Noto Serif"/>
              </a:rPr>
              <a:t>To design and implement a menu-driven Library Book Management System in Java using Object-Oriented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53769"/>
            <a:ext cx="67157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sz="1200">
                <a:solidFill>
                  <a:srgbClr val="000000"/>
                </a:solidFill>
                <a:latin typeface="Noto Serif"/>
              </a:rPr>
              <a:t>Programming (OOP) principles, specifically Classes and Encapsulation, to manage book records, issue/return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63320"/>
            <a:ext cx="39865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200">
                <a:solidFill>
                  <a:srgbClr val="000000"/>
                </a:solidFill>
                <a:latin typeface="Noto Serif"/>
              </a:rPr>
              <a:t>operations, and search functionalities through an array of objects.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34160"/>
            <a:ext cx="6845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200">
                <a:solidFill>
                  <a:srgbClr val="0097B2"/>
                </a:solidFill>
                <a:latin typeface="Noto Serif"/>
              </a:rPr>
              <a:t>Algorithm</a:t>
            </a:r>
            <a:r>
              <a:rPr spc="24" u="sng" b="1" sz="1200">
                <a:solidFill>
                  <a:srgbClr val="0097B2"/>
                </a:solidFill>
                <a:uFill>
                  <a:solidFill>
                    <a:srgbClr val="0097b1">
                      <a:alpha val="100000"/>
                    </a:srgbClr>
                  </a:solidFill>
                </a:uFill>
                <a:latin typeface="Noto Serif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896110"/>
            <a:ext cx="1955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1. </a:t>
            </a:r>
            <a:r>
              <a:rPr spc="-76" b="1" sz="1200">
                <a:solidFill>
                  <a:srgbClr val="000000"/>
                </a:solidFill>
                <a:latin typeface="Noto Serif"/>
              </a:rPr>
              <a:t>Class Design (Book Class)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58060"/>
            <a:ext cx="688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200">
                <a:solidFill>
                  <a:srgbClr val="000000"/>
                </a:solidFill>
                <a:latin typeface="Noto Serif"/>
              </a:rPr>
              <a:t>Declare private instance variables: bookId (String/int), title (String), author (String), price (double), and isIssued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77770"/>
            <a:ext cx="621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200">
                <a:solidFill>
                  <a:srgbClr val="000000"/>
                </a:solidFill>
                <a:latin typeface="Noto Serif"/>
              </a:rPr>
              <a:t>(boolean).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9720"/>
            <a:ext cx="58026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000000"/>
                </a:solidFill>
                <a:latin typeface="Noto Serif"/>
              </a:rPr>
              <a:t>Create a parameterized constructor to initialize book details and set isIssued to false by default.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10560"/>
            <a:ext cx="4312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Noto Serif"/>
              </a:rPr>
              <a:t>Provide public getter and setter methods to demonstrate encapsulation.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7251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sz="1200">
                <a:solidFill>
                  <a:srgbClr val="000000"/>
                </a:solidFill>
                <a:latin typeface="Noto Serif"/>
              </a:rPr>
              <a:t>Define methods: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4460"/>
            <a:ext cx="6137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issueBook(): Checks if the book is available. If yes, sets isIssued = true; otherwise, displays an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06570"/>
            <a:ext cx="6214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000000"/>
                </a:solidFill>
                <a:latin typeface="Noto Serif"/>
              </a:rPr>
              <a:t>returnBook(): Checks if the book was issued. If yes, sets isIssued = false; otherwise, displays an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8520"/>
            <a:ext cx="28054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displayDetails(): Prints all details of the book.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5030470"/>
            <a:ext cx="31508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2. </a:t>
            </a:r>
            <a:r>
              <a:rPr spc="-85" b="1" sz="1200">
                <a:solidFill>
                  <a:srgbClr val="000000"/>
                </a:solidFill>
                <a:latin typeface="Noto Serif"/>
              </a:rPr>
              <a:t>Driver Class Design (LibraryManager Class)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01310"/>
            <a:ext cx="34175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Initialize an array of Book objects with a fixed capacity.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3260"/>
            <a:ext cx="25781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sz="1200">
                <a:solidFill>
                  <a:srgbClr val="000000"/>
                </a:solidFill>
                <a:latin typeface="Noto Serif"/>
              </a:rPr>
              <a:t>Display a menu using a loop with options: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135370"/>
            <a:ext cx="858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00">
                <a:solidFill>
                  <a:srgbClr val="000000"/>
                </a:solidFill>
                <a:latin typeface="Noto Serif"/>
              </a:rPr>
              <a:t>1. Add 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344920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55447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772909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982459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720217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7564120"/>
            <a:ext cx="3606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00"/>
                </a:solidFill>
                <a:latin typeface="Noto Serif"/>
              </a:rPr>
              <a:t>3.Implement switch-case logic to handle user selections: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7926070"/>
            <a:ext cx="35534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1200">
                <a:solidFill>
                  <a:srgbClr val="000000"/>
                </a:solidFill>
                <a:latin typeface="Noto Serif"/>
              </a:rPr>
              <a:t>Add: Instantiate a new Book object and add it to the array.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8296909"/>
            <a:ext cx="6294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200">
                <a:solidFill>
                  <a:srgbClr val="000000"/>
                </a:solidFill>
                <a:latin typeface="Noto Serif"/>
              </a:rPr>
              <a:t>Issue/Return/Search: Linear search through the array using bookId to find the target object and call the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8506460"/>
            <a:ext cx="1226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5" sz="1200">
                <a:solidFill>
                  <a:srgbClr val="000000"/>
                </a:solidFill>
                <a:latin typeface="Noto Serif"/>
              </a:rPr>
              <a:t>appropriate method.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8878570"/>
            <a:ext cx="671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u="sng" sz="1200">
                <a:solidFill>
                  <a:srgbClr val="FF1FA9"/>
                </a:solidFill>
                <a:uFill>
                  <a:solidFill>
                    <a:srgbClr val="ff1fa8">
                      <a:alpha val="100000"/>
                    </a:srgbClr>
                  </a:solidFill>
                </a:uFill>
                <a:latin typeface="Noto Serif"/>
              </a:rPr>
              <a:t>Java Code: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02470"/>
            <a:ext cx="1510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sz="1200">
                <a:solidFill>
                  <a:srgbClr val="000000"/>
                </a:solidFill>
                <a:latin typeface="Noto Serif"/>
              </a:rPr>
              <a:t>import java.util.Scanner;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9973310"/>
            <a:ext cx="1671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200">
                <a:solidFill>
                  <a:srgbClr val="000000"/>
                </a:solidFill>
                <a:latin typeface="Noto Serif"/>
              </a:rPr>
              <a:t>// Encapsulated Book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72110"/>
            <a:ext cx="77470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200">
                <a:solidFill>
                  <a:srgbClr val="000000"/>
                </a:solidFill>
                <a:latin typeface="Noto Serif"/>
              </a:rPr>
              <a:t>class Book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4060"/>
            <a:ext cx="1344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000000"/>
                </a:solidFill>
                <a:latin typeface="Noto Serif"/>
              </a:rPr>
              <a:t>private String bookId;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170"/>
            <a:ext cx="11506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private String title;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8120"/>
            <a:ext cx="13030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200">
                <a:solidFill>
                  <a:srgbClr val="000000"/>
                </a:solidFill>
                <a:latin typeface="Noto Serif"/>
              </a:rPr>
              <a:t>private String author;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8960"/>
            <a:ext cx="1261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7" sz="1200">
                <a:solidFill>
                  <a:srgbClr val="000000"/>
                </a:solidFill>
                <a:latin typeface="Noto Serif"/>
              </a:rPr>
              <a:t>private double price;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00910"/>
            <a:ext cx="1515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200">
                <a:solidFill>
                  <a:srgbClr val="000000"/>
                </a:solidFill>
                <a:latin typeface="Noto Serif"/>
              </a:rPr>
              <a:t>private boolean isIssued;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95960"/>
            <a:ext cx="42316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public Book(String bookId, String title, String author, double price)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5669"/>
            <a:ext cx="13639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 this.bookId = bookId;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25220"/>
            <a:ext cx="974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200">
                <a:solidFill>
                  <a:srgbClr val="000000"/>
                </a:solidFill>
                <a:latin typeface="Noto Serif"/>
              </a:rPr>
              <a:t> this.title = title;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43660"/>
            <a:ext cx="12788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200">
                <a:solidFill>
                  <a:srgbClr val="000000"/>
                </a:solidFill>
                <a:latin typeface="Noto Serif"/>
              </a:rPr>
              <a:t> this.author = author;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3210"/>
            <a:ext cx="11099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200">
                <a:solidFill>
                  <a:srgbClr val="000000"/>
                </a:solidFill>
                <a:latin typeface="Noto Serif"/>
              </a:rPr>
              <a:t> this.price = price;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62760"/>
            <a:ext cx="324611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200">
                <a:solidFill>
                  <a:srgbClr val="000000"/>
                </a:solidFill>
                <a:latin typeface="Noto Serif"/>
              </a:rPr>
              <a:t> this.isIssued = false; // Initially, the book is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8247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620010"/>
            <a:ext cx="1685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200">
                <a:solidFill>
                  <a:srgbClr val="000000"/>
                </a:solidFill>
                <a:latin typeface="Noto Serif"/>
              </a:rPr>
              <a:t>public String getBookId()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29560"/>
            <a:ext cx="9131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1" sz="1200">
                <a:solidFill>
                  <a:srgbClr val="000000"/>
                </a:solidFill>
                <a:latin typeface="Noto Serif"/>
              </a:rPr>
              <a:t> return bookId;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04927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468370"/>
            <a:ext cx="1510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200">
                <a:solidFill>
                  <a:srgbClr val="000000"/>
                </a:solidFill>
                <a:latin typeface="Noto Serif"/>
              </a:rPr>
              <a:t>public String getTitle()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86810"/>
            <a:ext cx="718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200">
                <a:solidFill>
                  <a:srgbClr val="000000"/>
                </a:solidFill>
                <a:latin typeface="Noto Serif"/>
              </a:rPr>
              <a:t> return title;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89636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325620"/>
            <a:ext cx="16598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public String getAuthor()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35170"/>
            <a:ext cx="8712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5" sz="1200">
                <a:solidFill>
                  <a:srgbClr val="000000"/>
                </a:solidFill>
                <a:latin typeface="Noto Serif"/>
              </a:rPr>
              <a:t> return author;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5361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182870"/>
            <a:ext cx="1583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public double getPrice()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92420"/>
            <a:ext cx="7861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2" sz="1200">
                <a:solidFill>
                  <a:srgbClr val="000000"/>
                </a:solidFill>
                <a:latin typeface="Noto Serif"/>
              </a:rPr>
              <a:t> return price;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60197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6029960"/>
            <a:ext cx="16433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public boolean isIssued()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49670"/>
            <a:ext cx="972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200">
                <a:solidFill>
                  <a:srgbClr val="000000"/>
                </a:solidFill>
                <a:latin typeface="Noto Serif"/>
              </a:rPr>
              <a:t> return isIssued;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45922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6887209"/>
            <a:ext cx="21805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200">
                <a:solidFill>
                  <a:srgbClr val="000000"/>
                </a:solidFill>
                <a:latin typeface="Noto Serif"/>
              </a:rPr>
              <a:t>public void setPrice(double price)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7096759"/>
            <a:ext cx="9245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sz="1200">
                <a:solidFill>
                  <a:srgbClr val="000000"/>
                </a:solidFill>
                <a:latin typeface="Noto Serif"/>
              </a:rPr>
              <a:t> if (price &gt; 0)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69" y="7316470"/>
            <a:ext cx="11099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200">
                <a:solidFill>
                  <a:srgbClr val="000000"/>
                </a:solidFill>
                <a:latin typeface="Noto Serif"/>
              </a:rPr>
              <a:t> this.price = price;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75260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773557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8373109"/>
            <a:ext cx="1574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200">
                <a:solidFill>
                  <a:srgbClr val="000000"/>
                </a:solidFill>
                <a:latin typeface="Noto Serif"/>
              </a:rPr>
              <a:t>public void issueBook()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8592820"/>
            <a:ext cx="9232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sz="1200">
                <a:solidFill>
                  <a:srgbClr val="000000"/>
                </a:solidFill>
                <a:latin typeface="Noto Serif"/>
              </a:rPr>
              <a:t> if (!isIssued)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69" y="8802370"/>
            <a:ext cx="9702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 isIssued = true;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69" y="9020810"/>
            <a:ext cx="41287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200">
                <a:solidFill>
                  <a:srgbClr val="000000"/>
                </a:solidFill>
                <a:latin typeface="Noto Serif"/>
              </a:rPr>
              <a:t> System.out.println("Success: Book '" + title + "' has been issued.");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9230360"/>
            <a:ext cx="4965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 } else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69" y="9439910"/>
            <a:ext cx="40271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System.out.println("Error: Book '" + title + "' is already issued.");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96596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986917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72110"/>
            <a:ext cx="163448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200">
                <a:solidFill>
                  <a:srgbClr val="000000"/>
                </a:solidFill>
                <a:latin typeface="Noto Serif"/>
              </a:rPr>
              <a:t>public void returnBook()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1660"/>
            <a:ext cx="872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200">
                <a:solidFill>
                  <a:srgbClr val="000000"/>
                </a:solidFill>
                <a:latin typeface="Noto Serif"/>
              </a:rPr>
              <a:t> if (isIssued)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3300" y="58166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469" y="801370"/>
            <a:ext cx="102107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1200">
                <a:solidFill>
                  <a:srgbClr val="000000"/>
                </a:solidFill>
                <a:latin typeface="Noto Serif"/>
              </a:rPr>
              <a:t> isIssued = false;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69" y="1010919"/>
            <a:ext cx="4254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200">
                <a:solidFill>
                  <a:srgbClr val="000000"/>
                </a:solidFill>
                <a:latin typeface="Noto Serif"/>
              </a:rPr>
              <a:t> System.out.println("Success: Book '" + title + "' has been returned.");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29360"/>
            <a:ext cx="4965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 } else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69" y="1438910"/>
            <a:ext cx="39077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200">
                <a:solidFill>
                  <a:srgbClr val="000000"/>
                </a:solidFill>
                <a:latin typeface="Noto Serif"/>
              </a:rPr>
              <a:t> System.out.println("Error: Book '" + title + "' was not issued.");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846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86817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296160"/>
            <a:ext cx="1812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200">
                <a:solidFill>
                  <a:srgbClr val="000000"/>
                </a:solidFill>
                <a:latin typeface="Noto Serif"/>
              </a:rPr>
              <a:t>public void displayDetails()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05710"/>
            <a:ext cx="29730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String status = isIssued ? "Issued" : "Available";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15260"/>
            <a:ext cx="56642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 System.out.printf("ID: %-8s | Title: %-20s | Author: %-15s | Price: $%-6.2f | Status: %s%n",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53460"/>
            <a:ext cx="72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87520"/>
            <a:ext cx="1863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sz="1200">
                <a:solidFill>
                  <a:srgbClr val="000000"/>
                </a:solidFill>
                <a:latin typeface="Noto Serif"/>
              </a:rPr>
              <a:t>public class LibraryManager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58360"/>
            <a:ext cx="462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private static Book[] library = new Book[100]; // Fixed size array of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0310"/>
            <a:ext cx="1638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200">
                <a:solidFill>
                  <a:srgbClr val="000000"/>
                </a:solidFill>
                <a:latin typeface="Noto Serif"/>
              </a:rPr>
              <a:t>private static int count = 0;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86409"/>
            <a:ext cx="23685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5960"/>
            <a:ext cx="2726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200">
                <a:solidFill>
                  <a:srgbClr val="000000"/>
                </a:solidFill>
                <a:latin typeface="Noto Serif"/>
              </a:rPr>
              <a:t> Scanner scanner = new Scanner(System.in);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5669"/>
            <a:ext cx="676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 int choice;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43660"/>
            <a:ext cx="3009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0" sz="1200">
                <a:solidFill>
                  <a:srgbClr val="000000"/>
                </a:solidFill>
                <a:latin typeface="Noto Serif"/>
              </a:rPr>
              <a:t> do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69" y="1553210"/>
            <a:ext cx="43611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 System.out.println("\n--- LIBRARY MANAGEMENT SYSTEM ---");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69" y="1762760"/>
            <a:ext cx="25323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200">
                <a:solidFill>
                  <a:srgbClr val="000000"/>
                </a:solidFill>
                <a:latin typeface="Noto Serif"/>
              </a:rPr>
              <a:t> System.out.println("1. Add New Book");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69" y="1982470"/>
            <a:ext cx="2265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 System.out.println("2. Issue Book");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69" y="2192020"/>
            <a:ext cx="23672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 System.out.println("3. Return Book");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69" y="2410460"/>
            <a:ext cx="27571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000000"/>
                </a:solidFill>
                <a:latin typeface="Noto Serif"/>
              </a:rPr>
              <a:t> System.out.println("4. Search Book by ID");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69" y="2620010"/>
            <a:ext cx="27101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1200">
                <a:solidFill>
                  <a:srgbClr val="000000"/>
                </a:solidFill>
                <a:latin typeface="Noto Serif"/>
              </a:rPr>
              <a:t> System.out.println("5. Display All Books");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69" y="2829560"/>
            <a:ext cx="18389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System.out.println("6. Exit");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69" y="3049270"/>
            <a:ext cx="25031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System.out.print("Enter choice (1-6): ");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69" y="3468370"/>
            <a:ext cx="1667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 choice = scanner.nextInt();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69" y="3686810"/>
            <a:ext cx="2117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200">
                <a:solidFill>
                  <a:srgbClr val="000000"/>
                </a:solidFill>
                <a:latin typeface="Noto Serif"/>
              </a:rPr>
              <a:t> scanner.nextLine(); // Clear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69" y="4116070"/>
            <a:ext cx="10845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200">
                <a:solidFill>
                  <a:srgbClr val="000000"/>
                </a:solidFill>
                <a:latin typeface="Noto Serif"/>
              </a:rPr>
              <a:t> switch (choice)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869" y="4325620"/>
            <a:ext cx="455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case 1: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4270" y="4535170"/>
            <a:ext cx="22910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200">
                <a:solidFill>
                  <a:srgbClr val="000000"/>
                </a:solidFill>
                <a:latin typeface="Noto Serif"/>
              </a:rPr>
              <a:t> System.out.print("Enter Book ID: ");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4270" y="4753610"/>
            <a:ext cx="19100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000000"/>
                </a:solidFill>
                <a:latin typeface="Noto Serif"/>
              </a:rPr>
              <a:t> String id = scanner.nextLine();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270" y="4963160"/>
            <a:ext cx="20421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200">
                <a:solidFill>
                  <a:srgbClr val="000000"/>
                </a:solidFill>
                <a:latin typeface="Noto Serif"/>
              </a:rPr>
              <a:t> System.out.print("Enter Title: ");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270" y="5182870"/>
            <a:ext cx="20281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200">
                <a:solidFill>
                  <a:srgbClr val="000000"/>
                </a:solidFill>
                <a:latin typeface="Noto Serif"/>
              </a:rPr>
              <a:t> String title = scanner.nextLine();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4270" y="5392420"/>
            <a:ext cx="21856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000000"/>
                </a:solidFill>
                <a:latin typeface="Noto Serif"/>
              </a:rPr>
              <a:t> System.out.print("Enter Author: ");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270" y="5601970"/>
            <a:ext cx="21805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000000"/>
                </a:solidFill>
                <a:latin typeface="Noto Serif"/>
              </a:rPr>
              <a:t> String author = scanner.nextLine();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4270" y="5820410"/>
            <a:ext cx="20751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 System.out.print("Enter Price: ");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4270" y="6029960"/>
            <a:ext cx="23075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sz="1200">
                <a:solidFill>
                  <a:srgbClr val="000000"/>
                </a:solidFill>
                <a:latin typeface="Noto Serif"/>
              </a:rPr>
              <a:t> double price = scanner.nextDouble();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4270" y="6459220"/>
            <a:ext cx="32562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200">
                <a:solidFill>
                  <a:srgbClr val="000000"/>
                </a:solidFill>
                <a:latin typeface="Noto Serif"/>
              </a:rPr>
              <a:t> library[count++] = new Book(id, title, author, price);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4270" y="6668770"/>
            <a:ext cx="29984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200">
                <a:solidFill>
                  <a:srgbClr val="000000"/>
                </a:solidFill>
                <a:latin typeface="Noto Serif"/>
              </a:rPr>
              <a:t> System.out.println("Book added successfully!");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4270" y="6887209"/>
            <a:ext cx="41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break;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869" y="7316470"/>
            <a:ext cx="455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case 2: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4270" y="7526020"/>
            <a:ext cx="27901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200">
                <a:solidFill>
                  <a:srgbClr val="000000"/>
                </a:solidFill>
                <a:latin typeface="Noto Serif"/>
              </a:rPr>
              <a:t> System.out.print("Enter Book ID to issue: ");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4270" y="7735570"/>
            <a:ext cx="2222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 String issueId = scanner.nextLine();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4270" y="7954009"/>
            <a:ext cx="240791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 Book issueTarget = findBook(issueId);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4270" y="8163559"/>
            <a:ext cx="15201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200">
                <a:solidFill>
                  <a:srgbClr val="000000"/>
                </a:solidFill>
                <a:latin typeface="Noto Serif"/>
              </a:rPr>
              <a:t> if (issueTarget != null)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6670" y="8373109"/>
            <a:ext cx="15430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 issueTarget.issueBook();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4270" y="8592820"/>
            <a:ext cx="4965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 } else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6670" y="8802370"/>
            <a:ext cx="3027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 System.out.println("Error: Book ID not found.");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4270" y="902081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4270" y="9230360"/>
            <a:ext cx="41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break;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1869" y="9659620"/>
            <a:ext cx="455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case 3: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4270" y="9869170"/>
            <a:ext cx="28498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 System.out.print("Enter Book ID to return: ");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4270" y="10087610"/>
            <a:ext cx="22821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1200">
                <a:solidFill>
                  <a:srgbClr val="000000"/>
                </a:solidFill>
                <a:latin typeface="Noto Serif"/>
              </a:rPr>
              <a:t> String returnId = scanner.nextLine();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4270" y="372110"/>
            <a:ext cx="252730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1200">
                <a:solidFill>
                  <a:srgbClr val="000000"/>
                </a:solidFill>
                <a:latin typeface="Noto Serif"/>
              </a:rPr>
              <a:t> Book returnTarget = findBook(returnId);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270" y="581660"/>
            <a:ext cx="15798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 if (returnTarget != null)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670" y="801370"/>
            <a:ext cx="166242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1" sz="1200">
                <a:solidFill>
                  <a:srgbClr val="000000"/>
                </a:solidFill>
                <a:latin typeface="Noto Serif"/>
              </a:rPr>
              <a:t> returnTarget.returnBook();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270" y="1010919"/>
            <a:ext cx="4965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 } else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670" y="1229360"/>
            <a:ext cx="3027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 System.out.println("Error: Book ID not found.");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270" y="143891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270" y="1648460"/>
            <a:ext cx="41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break;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869" y="2077720"/>
            <a:ext cx="455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case 4: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4270" y="2296160"/>
            <a:ext cx="28752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200">
                <a:solidFill>
                  <a:srgbClr val="000000"/>
                </a:solidFill>
                <a:latin typeface="Noto Serif"/>
              </a:rPr>
              <a:t> System.out.print("Enter Book ID to search: 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270" y="2505710"/>
            <a:ext cx="23075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6" sz="1200">
                <a:solidFill>
                  <a:srgbClr val="000000"/>
                </a:solidFill>
                <a:latin typeface="Noto Serif"/>
              </a:rPr>
              <a:t> String searchId = scanner.nextLine();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270" y="2715260"/>
            <a:ext cx="25768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200">
                <a:solidFill>
                  <a:srgbClr val="000000"/>
                </a:solidFill>
                <a:latin typeface="Noto Serif"/>
              </a:rPr>
              <a:t> Book searchTarget = findBook(searchId);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270" y="2934970"/>
            <a:ext cx="16052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200">
                <a:solidFill>
                  <a:srgbClr val="000000"/>
                </a:solidFill>
                <a:latin typeface="Noto Serif"/>
              </a:rPr>
              <a:t> if (searchTarget != null)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6670" y="3144520"/>
            <a:ext cx="23507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 System.out.println("\nBook Found:");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6670" y="3354070"/>
            <a:ext cx="1864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 searchTarget.displayDetails();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270" y="3572510"/>
            <a:ext cx="4965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 } else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6670" y="3782060"/>
            <a:ext cx="3027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 System.out.println("Error: Book ID not found.");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4270" y="400177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4270" y="4211320"/>
            <a:ext cx="41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break;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869" y="4639310"/>
            <a:ext cx="455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case 5: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270" y="4848860"/>
            <a:ext cx="1043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" sz="1200">
                <a:solidFill>
                  <a:srgbClr val="000000"/>
                </a:solidFill>
                <a:latin typeface="Noto Serif"/>
              </a:rPr>
              <a:t> if (count == 0)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6670" y="5068570"/>
            <a:ext cx="28740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 System.out.println("No books in the library.");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270" y="5278120"/>
            <a:ext cx="4965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 } else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6670" y="5487670"/>
            <a:ext cx="30619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System.out.println("\n--- Library Collection ---");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6670" y="5706110"/>
            <a:ext cx="1864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200">
                <a:solidFill>
                  <a:srgbClr val="000000"/>
                </a:solidFill>
                <a:latin typeface="Noto Serif"/>
              </a:rPr>
              <a:t> for (int i = 0; i &lt; count; i++)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9070" y="5915660"/>
            <a:ext cx="1642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200">
                <a:solidFill>
                  <a:srgbClr val="000000"/>
                </a:solidFill>
                <a:latin typeface="Noto Serif"/>
              </a:rPr>
              <a:t> library[i].displayDetails();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6670" y="613537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4270" y="63449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4270" y="6554470"/>
            <a:ext cx="41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break;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869" y="6982459"/>
            <a:ext cx="455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case 6: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4270" y="7202170"/>
            <a:ext cx="3027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 System.out.println("Exiting system. Goodbye!");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4270" y="7411720"/>
            <a:ext cx="41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break;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869" y="7839709"/>
            <a:ext cx="502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 default: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4270" y="8049259"/>
            <a:ext cx="339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 System.out.println("Invalid choice! Please try again.");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69" y="8258809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8478520"/>
            <a:ext cx="1356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200">
                <a:solidFill>
                  <a:srgbClr val="000000"/>
                </a:solidFill>
                <a:latin typeface="Noto Serif"/>
              </a:rPr>
              <a:t> } while (choice != 6);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8906510"/>
            <a:ext cx="9893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200">
                <a:solidFill>
                  <a:srgbClr val="000000"/>
                </a:solidFill>
                <a:latin typeface="Noto Serif"/>
              </a:rPr>
              <a:t> scanner.close();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911606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9545320"/>
            <a:ext cx="2357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1200">
                <a:solidFill>
                  <a:srgbClr val="000000"/>
                </a:solidFill>
                <a:latin typeface="Noto Serif"/>
              </a:rPr>
              <a:t>// Helper method to search array by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9754870"/>
            <a:ext cx="2819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private static Book findBook(String bookId)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9973310"/>
            <a:ext cx="1864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200">
                <a:solidFill>
                  <a:srgbClr val="000000"/>
                </a:solidFill>
                <a:latin typeface="Noto Serif"/>
              </a:rPr>
              <a:t> for (int i = 0; i &lt; count; i++) {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9469" y="372110"/>
            <a:ext cx="336931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200">
                <a:solidFill>
                  <a:srgbClr val="000000"/>
                </a:solidFill>
                <a:latin typeface="Noto Serif"/>
              </a:rPr>
              <a:t> if (library[i].getBookId().equalsIgnoreCase(bookId))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7600" y="372110"/>
            <a:ext cx="19812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200">
                <a:solidFill>
                  <a:srgbClr val="000000"/>
                </a:solidFill>
                <a:latin typeface="Noto Serif"/>
              </a:rPr>
              <a:t> 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1869" y="581660"/>
            <a:ext cx="1032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 return library[i];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3300" y="581660"/>
            <a:ext cx="72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69" y="801370"/>
            <a:ext cx="11049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10919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7510"/>
            <a:ext cx="72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39620"/>
            <a:ext cx="8966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200">
                <a:solidFill>
                  <a:srgbClr val="5E17EB"/>
                </a:solidFill>
                <a:latin typeface="Noto Serif"/>
              </a:rPr>
              <a:t>Sample Input </a:t>
            </a:r>
            <a:r>
              <a:rPr spc="-14" u="sng" sz="1200">
                <a:solidFill>
                  <a:srgbClr val="001B3D"/>
                </a:solidFill>
                <a:uFill>
                  <a:solidFill>
                    <a:srgbClr val="001b3c">
                      <a:alpha val="100000"/>
                    </a:srgbClr>
                  </a:solidFill>
                </a:uFill>
                <a:latin typeface="Noto Serif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01570"/>
            <a:ext cx="9436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5" sz="1200">
                <a:solidFill>
                  <a:srgbClr val="000000"/>
                </a:solidFill>
                <a:latin typeface="Noto Serif"/>
              </a:rPr>
              <a:t>Input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63520"/>
            <a:ext cx="5410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Plaintext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34360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96310"/>
            <a:ext cx="330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B101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68420"/>
            <a:ext cx="7150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200">
                <a:solidFill>
                  <a:srgbClr val="000000"/>
                </a:solidFill>
                <a:latin typeface="Noto Serif"/>
              </a:rPr>
              <a:t>Clean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30370"/>
            <a:ext cx="10452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200">
                <a:solidFill>
                  <a:srgbClr val="000000"/>
                </a:solidFill>
                <a:latin typeface="Noto Serif"/>
              </a:rPr>
              <a:t>Robert C. Martin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92320"/>
            <a:ext cx="3428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45.50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63160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25110"/>
            <a:ext cx="330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B102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97220"/>
            <a:ext cx="169290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9" sz="1200">
                <a:solidFill>
                  <a:srgbClr val="000000"/>
                </a:solidFill>
                <a:latin typeface="Noto Serif"/>
              </a:rPr>
              <a:t>The Pragmatic Programmer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59170"/>
            <a:ext cx="833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5" sz="1200">
                <a:solidFill>
                  <a:srgbClr val="000000"/>
                </a:solidFill>
                <a:latin typeface="Noto Serif"/>
              </a:rPr>
              <a:t>Andrew Hunt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21120"/>
            <a:ext cx="3428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50.00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791959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7153909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526020"/>
            <a:ext cx="330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B101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7887970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8249920"/>
            <a:ext cx="330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B101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8620760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8982710"/>
            <a:ext cx="330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B101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344660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9716770"/>
            <a:ext cx="330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B101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0078720"/>
            <a:ext cx="7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2110"/>
            <a:ext cx="96012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200">
                <a:solidFill>
                  <a:srgbClr val="CC0000"/>
                </a:solidFill>
                <a:latin typeface="Noto Serif"/>
              </a:rPr>
              <a:t>Sample Output: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4060"/>
            <a:ext cx="5410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Plaintext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06170"/>
            <a:ext cx="2810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46812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686560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89611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10566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32537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53492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275336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2962910"/>
            <a:ext cx="15354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8. Enter Book ID: B101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172460"/>
            <a:ext cx="1671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" sz="1200">
                <a:solidFill>
                  <a:srgbClr val="000000"/>
                </a:solidFill>
                <a:latin typeface="Noto Serif"/>
              </a:rPr>
              <a:t>9. Enter Title: Clean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392170"/>
            <a:ext cx="2171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1200">
                <a:solidFill>
                  <a:srgbClr val="000000"/>
                </a:solidFill>
                <a:latin typeface="Noto Serif"/>
              </a:rPr>
              <a:t>10. Enter Author: Robert C. Martin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601720"/>
            <a:ext cx="1358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200">
                <a:solidFill>
                  <a:srgbClr val="000000"/>
                </a:solidFill>
                <a:latin typeface="Noto Serif"/>
              </a:rPr>
              <a:t>11. Enter Price: 45.50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3811270"/>
            <a:ext cx="1819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12. Book added successfully!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82110"/>
            <a:ext cx="2810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454406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763770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97332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518287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40131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61086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583057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040120"/>
            <a:ext cx="15354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8. Enter Book ID: B102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249670"/>
            <a:ext cx="2646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200">
                <a:solidFill>
                  <a:srgbClr val="000000"/>
                </a:solidFill>
                <a:latin typeface="Noto Serif"/>
              </a:rPr>
              <a:t>9. Enter Title: The Pragmatic Programmer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68110"/>
            <a:ext cx="195198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000000"/>
                </a:solidFill>
                <a:latin typeface="Noto Serif"/>
              </a:rPr>
              <a:t>10. Enter Author: Andrew Hunt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677659"/>
            <a:ext cx="1358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200">
                <a:solidFill>
                  <a:srgbClr val="000000"/>
                </a:solidFill>
                <a:latin typeface="Noto Serif"/>
              </a:rPr>
              <a:t>11. Enter Price: 50.00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6897370"/>
            <a:ext cx="1819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12. Book added successfully!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7259320"/>
            <a:ext cx="2810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762127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7839709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8049259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826897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847852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868807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890651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9268460"/>
            <a:ext cx="1510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200">
                <a:solidFill>
                  <a:srgbClr val="000000"/>
                </a:solidFill>
                <a:latin typeface="Noto Serif"/>
              </a:rPr>
              <a:t>--- Library Collection ---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9630410"/>
            <a:ext cx="6032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200">
                <a:solidFill>
                  <a:srgbClr val="000000"/>
                </a:solidFill>
                <a:latin typeface="Noto Serif"/>
              </a:rPr>
              <a:t>ID: B101   | Title: Clean Code      | Author: Robert C. Martin | Price: $45.50 | Status: Available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0002520"/>
            <a:ext cx="61734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000000"/>
                </a:solidFill>
                <a:latin typeface="Noto Serif"/>
              </a:rPr>
              <a:t>ID: B102   | Title: The Pragmatic Progr | Author: Andrew Hunt   | Price: $50.00 | Status: 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72110"/>
            <a:ext cx="281051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3406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953769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6332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38176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59131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80086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02057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230120"/>
            <a:ext cx="2035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sz="1200">
                <a:solidFill>
                  <a:srgbClr val="000000"/>
                </a:solidFill>
                <a:latin typeface="Noto Serif"/>
              </a:rPr>
              <a:t>8. Enter Book ID to issue: B101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448560"/>
            <a:ext cx="295401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200">
                <a:solidFill>
                  <a:srgbClr val="000000"/>
                </a:solidFill>
                <a:latin typeface="Noto Serif"/>
              </a:rPr>
              <a:t>9. Success: Book 'Clean Code' has been issued.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510"/>
            <a:ext cx="2810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17246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392170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60172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81127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02971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23926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445897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668520"/>
            <a:ext cx="2035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sz="1200">
                <a:solidFill>
                  <a:srgbClr val="000000"/>
                </a:solidFill>
                <a:latin typeface="Noto Serif"/>
              </a:rPr>
              <a:t>8. Enter Book ID to issue: B101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878070"/>
            <a:ext cx="285241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200">
                <a:solidFill>
                  <a:srgbClr val="000000"/>
                </a:solidFill>
                <a:latin typeface="Noto Serif"/>
              </a:rPr>
              <a:t>9. Error: Book 'Clean Code' is already issued.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48910"/>
            <a:ext cx="2810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61086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830570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04012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24967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468110"/>
            <a:ext cx="135382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677659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89737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7106920"/>
            <a:ext cx="21196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200">
                <a:solidFill>
                  <a:srgbClr val="000000"/>
                </a:solidFill>
                <a:latin typeface="Noto Serif"/>
              </a:rPr>
              <a:t>8. Enter Book ID to search: B101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7468870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Book Found: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7839709"/>
            <a:ext cx="58496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200">
                <a:solidFill>
                  <a:srgbClr val="000000"/>
                </a:solidFill>
                <a:latin typeface="Noto Serif"/>
              </a:rPr>
              <a:t>ID: B101   | Title: Clean Code      | Author: Robert C. Martin | Price: $45.50 | Status: Issued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8201659"/>
            <a:ext cx="2810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857377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8783320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899287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921131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942086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963041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985012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" y="10059670"/>
            <a:ext cx="20942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200">
                <a:solidFill>
                  <a:srgbClr val="000000"/>
                </a:solidFill>
                <a:latin typeface="Noto Serif"/>
              </a:rPr>
              <a:t>8. Enter Book ID to return: B101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372110"/>
            <a:ext cx="308101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1200">
                <a:solidFill>
                  <a:srgbClr val="000000"/>
                </a:solidFill>
                <a:latin typeface="Noto Serif"/>
              </a:rPr>
              <a:t>9. Success: Book 'Clean Code' has been returned.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4060"/>
            <a:ext cx="2810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Noto Serif"/>
              </a:rPr>
              <a:t>--- LIBRARY MANAGEMENT SYSTEM ---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06170"/>
            <a:ext cx="1184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1. Add New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315720"/>
            <a:ext cx="909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1200">
                <a:solidFill>
                  <a:srgbClr val="000000"/>
                </a:solidFill>
                <a:latin typeface="Noto Serif"/>
              </a:rPr>
              <a:t>2. Issue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534160"/>
            <a:ext cx="1010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200">
                <a:solidFill>
                  <a:srgbClr val="000000"/>
                </a:solidFill>
                <a:latin typeface="Noto Serif"/>
              </a:rPr>
              <a:t>3. Return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743710"/>
            <a:ext cx="14008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200">
                <a:solidFill>
                  <a:srgbClr val="000000"/>
                </a:solidFill>
                <a:latin typeface="Noto Serif"/>
              </a:rPr>
              <a:t>4. Search Book by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95326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1200">
                <a:solidFill>
                  <a:srgbClr val="000000"/>
                </a:solidFill>
                <a:latin typeface="Noto Serif"/>
              </a:rPr>
              <a:t>5. Display All 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172970"/>
            <a:ext cx="48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200">
                <a:solidFill>
                  <a:srgbClr val="000000"/>
                </a:solidFill>
                <a:latin typeface="Noto Serif"/>
              </a:rPr>
              <a:t>6. Exit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382520"/>
            <a:ext cx="149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200">
                <a:solidFill>
                  <a:srgbClr val="000000"/>
                </a:solidFill>
                <a:latin typeface="Noto Serif"/>
              </a:rPr>
              <a:t>7. Enter choice (1-6):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600960"/>
            <a:ext cx="18237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200">
                <a:solidFill>
                  <a:srgbClr val="000000"/>
                </a:solidFill>
                <a:latin typeface="Noto Serif"/>
              </a:rPr>
              <a:t>8. Exiting system. Goodbye!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72110"/>
            <a:ext cx="31242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u="sng" sz="1200">
                <a:solidFill>
                  <a:srgbClr val="FF751F"/>
                </a:solidFill>
                <a:uFill>
                  <a:solidFill>
                    <a:srgbClr val="ff741f">
                      <a:alpha val="100000"/>
                    </a:srgbClr>
                  </a:solidFill>
                </a:uFill>
                <a:latin typeface="Noto Serif"/>
              </a:rPr>
              <a:t>Aim: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4060"/>
            <a:ext cx="68668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000000"/>
                </a:solidFill>
                <a:latin typeface="Noto Serif"/>
              </a:rPr>
              <a:t>To design and implement an Employee Payroll System in Java using </a:t>
            </a:r>
            <a:r>
              <a:rPr spc="-110" b="1" sz="1200">
                <a:solidFill>
                  <a:srgbClr val="000000"/>
                </a:solidFill>
                <a:latin typeface="Noto Serif"/>
              </a:rPr>
              <a:t>Inheritance</a:t>
            </a:r>
            <a:r>
              <a:rPr spc="-96" sz="1200">
                <a:solidFill>
                  <a:srgbClr val="000000"/>
                </a:solidFill>
                <a:latin typeface="Noto Serif"/>
              </a:rPr>
              <a:t> and </a:t>
            </a:r>
            <a:r>
              <a:rPr spc="-104" b="1" sz="1200">
                <a:solidFill>
                  <a:srgbClr val="000000"/>
                </a:solidFill>
                <a:latin typeface="Noto Serif"/>
              </a:rPr>
              <a:t>Runtime Polymorphism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3769"/>
            <a:ext cx="631824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b="1" sz="1200">
                <a:solidFill>
                  <a:srgbClr val="000000"/>
                </a:solidFill>
                <a:latin typeface="Noto Serif"/>
              </a:rPr>
              <a:t>(Method Overriding)</a:t>
            </a:r>
            <a:r>
              <a:rPr spc="-95" sz="1200">
                <a:solidFill>
                  <a:srgbClr val="000000"/>
                </a:solidFill>
                <a:latin typeface="Noto Serif"/>
              </a:rPr>
              <a:t> by creating a base class Employee and derived classes PermanentEmployee and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63320"/>
            <a:ext cx="39293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200">
                <a:solidFill>
                  <a:srgbClr val="000000"/>
                </a:solidFill>
                <a:latin typeface="Noto Serif"/>
              </a:rPr>
              <a:t>ContractEmployee to calculate and display salaries dynamically.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1460"/>
            <a:ext cx="698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200">
                <a:solidFill>
                  <a:srgbClr val="CC0000"/>
                </a:solidFill>
                <a:latin typeface="Noto Serif"/>
              </a:rPr>
              <a:t>Algorithm</a:t>
            </a:r>
            <a:r>
              <a:rPr spc="-16" sz="1800">
                <a:solidFill>
                  <a:srgbClr val="CC0000"/>
                </a:solidFill>
                <a:latin typeface="Noto Serif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2939"/>
            <a:ext cx="212344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b="1" sz="1200">
                <a:solidFill>
                  <a:srgbClr val="000000"/>
                </a:solidFill>
                <a:latin typeface="Noto Serif"/>
              </a:rPr>
              <a:t>1. Base Class (Employee) Desig</a:t>
            </a:r>
            <a:r>
              <a:rPr spc="-154" b="1" sz="1400">
                <a:solidFill>
                  <a:srgbClr val="000000"/>
                </a:solidFill>
                <a:latin typeface="Noto Serif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87270"/>
            <a:ext cx="384301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2" sz="1200">
                <a:solidFill>
                  <a:srgbClr val="000000"/>
                </a:solidFill>
                <a:latin typeface="Noto Serif"/>
              </a:rPr>
              <a:t>1. Declare protected fields: empId (String) and name (String).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458720"/>
            <a:ext cx="40284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2. Create a constructor to initialize common employee attributes.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630170"/>
            <a:ext cx="50139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200">
                <a:solidFill>
                  <a:srgbClr val="000000"/>
                </a:solidFill>
                <a:latin typeface="Noto Serif"/>
              </a:rPr>
              <a:t>3. Define a method calculateSalary() that returns 0.0 (or make the class abstract).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810510"/>
            <a:ext cx="4735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4. Define a method displayDetails() to print common employee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34360"/>
            <a:ext cx="3042919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b="1" sz="1200">
                <a:solidFill>
                  <a:srgbClr val="000000"/>
                </a:solidFill>
                <a:latin typeface="Noto Serif"/>
              </a:rPr>
              <a:t>2. Derived Class (PermanentEmployee)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46837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200">
                <a:solidFill>
                  <a:srgbClr val="000000"/>
                </a:solidFill>
                <a:latin typeface="Noto Serif"/>
              </a:rPr>
              <a:t>1. Extend Employee.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639820"/>
            <a:ext cx="65671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2. Add private fields: basicPay (double), hra (double - House Rent Allowance), and da (double - Dearness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811270"/>
            <a:ext cx="748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Allowance).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991610"/>
            <a:ext cx="50203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200">
                <a:solidFill>
                  <a:srgbClr val="000000"/>
                </a:solidFill>
                <a:latin typeface="Noto Serif"/>
              </a:rPr>
              <a:t>3. Override calculateSalary(): Return $\text{basicPay} + \text{hra} + \text{da}$.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163060"/>
            <a:ext cx="63347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000000"/>
                </a:solidFill>
                <a:latin typeface="Noto Serif"/>
              </a:rPr>
              <a:t>4. Override displayDetails(): Call super.displayDetails() and print permanent employee specific salary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344670"/>
            <a:ext cx="7734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1200">
                <a:solidFill>
                  <a:srgbClr val="000000"/>
                </a:solidFill>
                <a:latin typeface="Noto Serif"/>
              </a:rPr>
              <a:t>components.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8520"/>
            <a:ext cx="29070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b="1" sz="1200">
                <a:solidFill>
                  <a:srgbClr val="000000"/>
                </a:solidFill>
                <a:latin typeface="Noto Serif"/>
              </a:rPr>
              <a:t>3. Derived Class (ContractEmployee)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99237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200">
                <a:solidFill>
                  <a:srgbClr val="000000"/>
                </a:solidFill>
                <a:latin typeface="Noto Serif"/>
              </a:rPr>
              <a:t>1. Extend Employee.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5172710"/>
            <a:ext cx="4091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200">
                <a:solidFill>
                  <a:srgbClr val="000000"/>
                </a:solidFill>
                <a:latin typeface="Noto Serif"/>
              </a:rPr>
              <a:t>2. Add private fields: hourlyRate (double) and hoursWorked (int).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5344160"/>
            <a:ext cx="53416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3. Override calculateSalary(): Return $\text{hourlyRate} \times \text{hoursWorked}$.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525770"/>
            <a:ext cx="50736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4. Override displayDetails(): Call super.displayDetails() and print contract details.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49620"/>
            <a:ext cx="2669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b="1" sz="1200">
                <a:solidFill>
                  <a:srgbClr val="000000"/>
                </a:solidFill>
                <a:latin typeface="Noto Serif"/>
              </a:rPr>
              <a:t>4. Main Driver Program (PayrollSystem)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182360"/>
            <a:ext cx="32118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000000"/>
                </a:solidFill>
                <a:latin typeface="Noto Serif"/>
              </a:rPr>
              <a:t>1. Create an array of Employee reference variables.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353810"/>
            <a:ext cx="583184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2. Store instances of PermanentEmployee and ContractEmployee inside the array (Upcasting).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525259"/>
            <a:ext cx="57124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3. Iterate through the array and invoke displayDetails() and calculateSalary() on each object.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706870"/>
            <a:ext cx="6508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sz="1200">
                <a:solidFill>
                  <a:srgbClr val="000000"/>
                </a:solidFill>
                <a:latin typeface="Noto Serif"/>
              </a:rPr>
              <a:t>4. Demonstrate Runtime Polymorphism as Java determines which calculateSalary() method to execute at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6878320"/>
            <a:ext cx="24244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200">
                <a:solidFill>
                  <a:srgbClr val="000000"/>
                </a:solidFill>
                <a:latin typeface="Noto Serif"/>
              </a:rPr>
              <a:t>runtime based on the actual object type.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7221220"/>
            <a:ext cx="6743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u="sng" sz="1200">
                <a:solidFill>
                  <a:srgbClr val="FF1FA9"/>
                </a:solidFill>
                <a:uFill>
                  <a:solidFill>
                    <a:srgbClr val="ff1fa8">
                      <a:alpha val="100000"/>
                    </a:srgbClr>
                  </a:solidFill>
                </a:uFill>
                <a:latin typeface="Noto Serif"/>
              </a:rPr>
              <a:t>Java Code: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7592059"/>
            <a:ext cx="1510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sz="1200">
                <a:solidFill>
                  <a:srgbClr val="000000"/>
                </a:solidFill>
                <a:latin typeface="Noto Serif"/>
              </a:rPr>
              <a:t>import java.util.Scanner;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8326120"/>
            <a:ext cx="787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sz="1200">
                <a:solidFill>
                  <a:srgbClr val="000000"/>
                </a:solidFill>
                <a:latin typeface="Noto Serif"/>
              </a:rPr>
              <a:t>// Base Class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8688070"/>
            <a:ext cx="1574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abstract class Employee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9050020"/>
            <a:ext cx="14846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sz="1200">
                <a:solidFill>
                  <a:srgbClr val="000000"/>
                </a:solidFill>
                <a:latin typeface="Noto Serif"/>
              </a:rPr>
              <a:t> protected String empId;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9420860"/>
            <a:ext cx="14262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 protected String name;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72110"/>
            <a:ext cx="290449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 public Employee(String empId, String name)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734060"/>
            <a:ext cx="12788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 this.empId = empId;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106170"/>
            <a:ext cx="1160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sz="1200">
                <a:solidFill>
                  <a:srgbClr val="000000"/>
                </a:solidFill>
                <a:latin typeface="Noto Serif"/>
              </a:rPr>
              <a:t> this.name = name;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681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00910"/>
            <a:ext cx="3064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sz="1200">
                <a:solidFill>
                  <a:srgbClr val="000000"/>
                </a:solidFill>
                <a:latin typeface="Noto Serif"/>
              </a:rPr>
              <a:t> // Abstract method to be overridden by subclasses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62860"/>
            <a:ext cx="2496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200">
                <a:solidFill>
                  <a:srgbClr val="000000"/>
                </a:solidFill>
                <a:latin typeface="Noto Serif"/>
              </a:rPr>
              <a:t> public abstract double calculateSalary();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296920"/>
            <a:ext cx="1850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000000"/>
                </a:solidFill>
                <a:latin typeface="Noto Serif"/>
              </a:rPr>
              <a:t> public void displayDetails()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667760"/>
            <a:ext cx="29946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4" sz="1200">
                <a:solidFill>
                  <a:srgbClr val="000000"/>
                </a:solidFill>
                <a:latin typeface="Noto Serif"/>
              </a:rPr>
              <a:t> System.out.println("Employee ID  : " + empId);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029710"/>
            <a:ext cx="30632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sz="1200">
                <a:solidFill>
                  <a:srgbClr val="000000"/>
                </a:solidFill>
                <a:latin typeface="Noto Serif"/>
              </a:rPr>
              <a:t> System.out.println("Employee Name : " + name);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39166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63770"/>
            <a:ext cx="72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7670"/>
            <a:ext cx="2277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1200">
                <a:solidFill>
                  <a:srgbClr val="000000"/>
                </a:solidFill>
                <a:latin typeface="Noto Serif"/>
              </a:rPr>
              <a:t>// Subclass for Permanent 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8510"/>
            <a:ext cx="28740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class PermanentEmployee extends Employee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220460"/>
            <a:ext cx="15354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sz="1200">
                <a:solidFill>
                  <a:srgbClr val="000000"/>
                </a:solidFill>
                <a:latin typeface="Noto Serif"/>
              </a:rPr>
              <a:t> private double basicPay;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592570"/>
            <a:ext cx="11887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Noto Serif"/>
              </a:rPr>
              <a:t> private double hra;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954520"/>
            <a:ext cx="1137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 private double da;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7687309"/>
            <a:ext cx="60134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2" sz="1200">
                <a:solidFill>
                  <a:srgbClr val="000000"/>
                </a:solidFill>
                <a:latin typeface="Noto Serif"/>
              </a:rPr>
              <a:t> public PermanentEmployee(String empId, String name, double basicPay, double hra, double da)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8049259"/>
            <a:ext cx="1306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super(empId, name);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8421370"/>
            <a:ext cx="1583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1200">
                <a:solidFill>
                  <a:srgbClr val="000000"/>
                </a:solidFill>
                <a:latin typeface="Noto Serif"/>
              </a:rPr>
              <a:t> this.basicPay = basicPay;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8783320"/>
            <a:ext cx="889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6" sz="1200">
                <a:solidFill>
                  <a:srgbClr val="000000"/>
                </a:solidFill>
                <a:latin typeface="Noto Serif"/>
              </a:rPr>
              <a:t> this.hra = hra;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9145270"/>
            <a:ext cx="7886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000000"/>
                </a:solidFill>
                <a:latin typeface="Noto Serif"/>
              </a:rPr>
              <a:t> this.da = da;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951611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72110"/>
            <a:ext cx="72009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200">
                <a:solidFill>
                  <a:srgbClr val="000000"/>
                </a:solidFill>
                <a:latin typeface="Noto Serif"/>
              </a:rPr>
              <a:t> @Override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34060"/>
            <a:ext cx="20535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200">
                <a:solidFill>
                  <a:srgbClr val="000000"/>
                </a:solidFill>
                <a:latin typeface="Noto Serif"/>
              </a:rPr>
              <a:t> public double calculateSalary()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106170"/>
            <a:ext cx="16865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200">
                <a:solidFill>
                  <a:srgbClr val="000000"/>
                </a:solidFill>
                <a:latin typeface="Noto Serif"/>
              </a:rPr>
              <a:t> return basicPay + hra + da;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681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00910"/>
            <a:ext cx="720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200">
                <a:solidFill>
                  <a:srgbClr val="000000"/>
                </a:solidFill>
                <a:latin typeface="Noto Serif"/>
              </a:rPr>
              <a:t> @Override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62860"/>
            <a:ext cx="1850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000000"/>
                </a:solidFill>
                <a:latin typeface="Noto Serif"/>
              </a:rPr>
              <a:t> public void displayDetails()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934970"/>
            <a:ext cx="1413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200">
                <a:solidFill>
                  <a:srgbClr val="000000"/>
                </a:solidFill>
                <a:latin typeface="Noto Serif"/>
              </a:rPr>
              <a:t> super.displayDetails();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296920"/>
            <a:ext cx="3158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200">
                <a:solidFill>
                  <a:srgbClr val="000000"/>
                </a:solidFill>
                <a:latin typeface="Noto Serif"/>
              </a:rPr>
              <a:t> System.out.println("Employee Type : Permanent");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667760"/>
            <a:ext cx="34302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200">
                <a:solidFill>
                  <a:srgbClr val="000000"/>
                </a:solidFill>
                <a:latin typeface="Noto Serif"/>
              </a:rPr>
              <a:t> System.out.printf("Basic Pay   : $%.2f%n", basicPay);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029710"/>
            <a:ext cx="30187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9" sz="1200">
                <a:solidFill>
                  <a:srgbClr val="000000"/>
                </a:solidFill>
                <a:latin typeface="Noto Serif"/>
              </a:rPr>
              <a:t> System.out.printf("HRA      : $%.2f%n", hra);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391660"/>
            <a:ext cx="2904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1200">
                <a:solidFill>
                  <a:srgbClr val="000000"/>
                </a:solidFill>
                <a:latin typeface="Noto Serif"/>
              </a:rPr>
              <a:t> System.out.printf("DA      : $%.2f%n", da);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763770"/>
            <a:ext cx="3939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System.out.printf("Total Salary : $%.2f%n", calculateSalary());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1257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7670"/>
            <a:ext cx="72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20460"/>
            <a:ext cx="21501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1200">
                <a:solidFill>
                  <a:srgbClr val="000000"/>
                </a:solidFill>
                <a:latin typeface="Noto Serif"/>
              </a:rPr>
              <a:t>// Subclass for Contract Employees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92570"/>
            <a:ext cx="27470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sz="1200">
                <a:solidFill>
                  <a:srgbClr val="000000"/>
                </a:solidFill>
                <a:latin typeface="Noto Serif"/>
              </a:rPr>
              <a:t>class ContractEmployee extends Employee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6954520"/>
            <a:ext cx="1671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 private double hourlyRate;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7316470"/>
            <a:ext cx="15570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6" sz="1200">
                <a:solidFill>
                  <a:srgbClr val="000000"/>
                </a:solidFill>
                <a:latin typeface="Noto Serif"/>
              </a:rPr>
              <a:t> private int hoursWorked;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8049259"/>
            <a:ext cx="5727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1200">
                <a:solidFill>
                  <a:srgbClr val="000000"/>
                </a:solidFill>
                <a:latin typeface="Noto Serif"/>
              </a:rPr>
              <a:t> public ContractEmployee(String empId, String name, double hourlyRate, int hoursWorked)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8421370"/>
            <a:ext cx="1306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1200">
                <a:solidFill>
                  <a:srgbClr val="000000"/>
                </a:solidFill>
                <a:latin typeface="Noto Serif"/>
              </a:rPr>
              <a:t> super(empId, name);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8783320"/>
            <a:ext cx="18554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3" sz="1200">
                <a:solidFill>
                  <a:srgbClr val="000000"/>
                </a:solidFill>
                <a:latin typeface="Noto Serif"/>
              </a:rPr>
              <a:t> this.hourlyRate = hourlyRate;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9145270"/>
            <a:ext cx="21348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6" sz="1200">
                <a:solidFill>
                  <a:srgbClr val="000000"/>
                </a:solidFill>
                <a:latin typeface="Noto Serif"/>
              </a:rPr>
              <a:t> this.hoursWorked = hoursWorked;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951611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72110"/>
            <a:ext cx="72009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200">
                <a:solidFill>
                  <a:srgbClr val="000000"/>
                </a:solidFill>
                <a:latin typeface="Noto Serif"/>
              </a:rPr>
              <a:t> @Override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734060"/>
            <a:ext cx="20535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200">
                <a:solidFill>
                  <a:srgbClr val="000000"/>
                </a:solidFill>
                <a:latin typeface="Noto Serif"/>
              </a:rPr>
              <a:t> public double calculateSalary()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106170"/>
            <a:ext cx="2128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5" sz="1200">
                <a:solidFill>
                  <a:srgbClr val="000000"/>
                </a:solidFill>
                <a:latin typeface="Noto Serif"/>
              </a:rPr>
              <a:t> return hourlyRate * hoursWorked;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681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00910"/>
            <a:ext cx="720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sz="1200">
                <a:solidFill>
                  <a:srgbClr val="000000"/>
                </a:solidFill>
                <a:latin typeface="Noto Serif"/>
              </a:rPr>
              <a:t> @Override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62860"/>
            <a:ext cx="1850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1200">
                <a:solidFill>
                  <a:srgbClr val="000000"/>
                </a:solidFill>
                <a:latin typeface="Noto Serif"/>
              </a:rPr>
              <a:t> public void displayDetails()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934970"/>
            <a:ext cx="1413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200">
                <a:solidFill>
                  <a:srgbClr val="000000"/>
                </a:solidFill>
                <a:latin typeface="Noto Serif"/>
              </a:rPr>
              <a:t> super.displayDetails();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296920"/>
            <a:ext cx="3031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1200">
                <a:solidFill>
                  <a:srgbClr val="000000"/>
                </a:solidFill>
                <a:latin typeface="Noto Serif"/>
              </a:rPr>
              <a:t> System.out.println("Employee Type : Contract");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667760"/>
            <a:ext cx="36334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System.out.printf("Hourly Rate  : $%.2f%n", hourlyRate);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029710"/>
            <a:ext cx="3454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 System.out.println("Hours Worked : " + hoursWorked);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391660"/>
            <a:ext cx="3939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System.out.printf("Total Salary : $%.2f%n", calculateSalary());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377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5720"/>
            <a:ext cx="72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8510"/>
            <a:ext cx="812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// Main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20460"/>
            <a:ext cx="1752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public class PayrollSystem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592570"/>
            <a:ext cx="24066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 public static void main(String[] args)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6954520"/>
            <a:ext cx="262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1200">
                <a:solidFill>
                  <a:srgbClr val="000000"/>
                </a:solidFill>
                <a:latin typeface="Noto Serif"/>
              </a:rPr>
              <a:t> // Polymorphic Array of Employee objects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7316470"/>
            <a:ext cx="27393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1200">
                <a:solidFill>
                  <a:srgbClr val="000000"/>
                </a:solidFill>
                <a:latin typeface="Noto Serif"/>
              </a:rPr>
              <a:t> Employee[] employees = new Employee[3];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8049259"/>
            <a:ext cx="2472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9" sz="1200">
                <a:solidFill>
                  <a:srgbClr val="000000"/>
                </a:solidFill>
                <a:latin typeface="Noto Serif"/>
              </a:rPr>
              <a:t> // Instantiating different employee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8421370"/>
            <a:ext cx="5751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employees[0] = new PermanentEmployee("E101", "Alice Smith", 5000.00, 1000.00, 500.00);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8783320"/>
            <a:ext cx="4608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200">
                <a:solidFill>
                  <a:srgbClr val="000000"/>
                </a:solidFill>
                <a:latin typeface="Noto Serif"/>
              </a:rPr>
              <a:t> employees[1] = new ContractEmployee("E102", "Bob Jones", 40.00, 120);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9145270"/>
            <a:ext cx="59207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1200">
                <a:solidFill>
                  <a:srgbClr val="000000"/>
                </a:solidFill>
                <a:latin typeface="Noto Serif"/>
              </a:rPr>
              <a:t> employees[2] = new PermanentEmployee("E103", "Charlie Brown", 6500.00, 1200.00, 600.00);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9878060"/>
            <a:ext cx="5041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 System.out.println("==========================================");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" y="0"/>
            <a:ext cx="7562850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39" y="349250"/>
            <a:ext cx="7562850" cy="9994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372110"/>
            <a:ext cx="431546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Noto Serif"/>
              </a:rPr>
              <a:t> System.out.println("    EMPLOYEE PAYROLL SYSTEM      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734060"/>
            <a:ext cx="5041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200">
                <a:solidFill>
                  <a:srgbClr val="000000"/>
                </a:solidFill>
                <a:latin typeface="Noto Serif"/>
              </a:rPr>
              <a:t> System.out.println("==========================================");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468120"/>
            <a:ext cx="2565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5" sz="1200">
                <a:solidFill>
                  <a:srgbClr val="000000"/>
                </a:solidFill>
                <a:latin typeface="Noto Serif"/>
              </a:rPr>
              <a:t> // Demonstrating Runtime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1838960"/>
            <a:ext cx="21551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200">
                <a:solidFill>
                  <a:srgbClr val="000000"/>
                </a:solidFill>
                <a:latin typeface="Noto Serif"/>
              </a:rPr>
              <a:t> for (Employee emp : employees)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569" y="2200910"/>
            <a:ext cx="1353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7" sz="1200">
                <a:solidFill>
                  <a:srgbClr val="000000"/>
                </a:solidFill>
                <a:latin typeface="Noto Serif"/>
              </a:rPr>
              <a:t> emp.displayDetails();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569" y="2562860"/>
            <a:ext cx="356361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200">
                <a:solidFill>
                  <a:srgbClr val="000000"/>
                </a:solidFill>
                <a:latin typeface="Noto Serif"/>
              </a:rPr>
              <a:t> System.out.println("------------------------------------------");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93497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296920"/>
            <a:ext cx="11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200">
                <a:solidFill>
                  <a:srgbClr val="000000"/>
                </a:solidFill>
                <a:latin typeface="Noto Serif"/>
              </a:rPr>
              <a:t>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67760"/>
            <a:ext cx="72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1200">
                <a:solidFill>
                  <a:srgbClr val="000000"/>
                </a:solidFill>
                <a:latin typeface="Noto Serif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9710"/>
            <a:ext cx="858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1200">
                <a:solidFill>
                  <a:srgbClr val="5E17EB"/>
                </a:solidFill>
                <a:latin typeface="Noto Serif"/>
              </a:rPr>
              <a:t>Sample Input: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763770"/>
            <a:ext cx="63906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1. </a:t>
            </a:r>
            <a:r>
              <a:rPr spc="-104" b="1" sz="1200">
                <a:solidFill>
                  <a:srgbClr val="000000"/>
                </a:solidFill>
                <a:latin typeface="Noto Serif"/>
              </a:rPr>
              <a:t>Permanent Employee 1</a:t>
            </a:r>
            <a:r>
              <a:rPr spc="-47" sz="1200">
                <a:solidFill>
                  <a:srgbClr val="000000"/>
                </a:solidFill>
                <a:latin typeface="Noto Serif"/>
              </a:rPr>
              <a:t>: ID: E101, Name: Alice Smith, Basic: 5000.00, HRA: 1000.00, DA: 500.00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973320"/>
            <a:ext cx="5107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2. </a:t>
            </a:r>
            <a:r>
              <a:rPr spc="-89" b="1" sz="1200">
                <a:solidFill>
                  <a:srgbClr val="000000"/>
                </a:solidFill>
                <a:latin typeface="Noto Serif"/>
              </a:rPr>
              <a:t>Contract Employee 1</a:t>
            </a:r>
            <a:r>
              <a:rPr spc="-61" sz="1200">
                <a:solidFill>
                  <a:srgbClr val="000000"/>
                </a:solidFill>
                <a:latin typeface="Noto Serif"/>
              </a:rPr>
              <a:t>: ID: E102, Name: Bob Jones, Rate/hr: 40.00, Hours: 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5182870"/>
            <a:ext cx="65684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1200">
                <a:solidFill>
                  <a:srgbClr val="000000"/>
                </a:solidFill>
                <a:latin typeface="Noto Serif"/>
              </a:rPr>
              <a:t>3. </a:t>
            </a:r>
            <a:r>
              <a:rPr spc="-104" b="1" sz="1200">
                <a:solidFill>
                  <a:srgbClr val="000000"/>
                </a:solidFill>
                <a:latin typeface="Noto Serif"/>
              </a:rPr>
              <a:t>Permanent Employee 2</a:t>
            </a:r>
            <a:r>
              <a:rPr spc="-51" sz="1200">
                <a:solidFill>
                  <a:srgbClr val="000000"/>
                </a:solidFill>
                <a:latin typeface="Noto Serif"/>
              </a:rPr>
              <a:t>: ID: E103, Name: Charlie Brown, Basic: 6500.00, HRA: 1200.00, DA: 600.00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53710"/>
            <a:ext cx="960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1200">
                <a:solidFill>
                  <a:srgbClr val="0097B2"/>
                </a:solidFill>
                <a:latin typeface="Noto Serif"/>
              </a:rPr>
              <a:t>Sample Output: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